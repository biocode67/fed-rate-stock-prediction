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0E838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A3A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83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C6B7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822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정확도</c:v>
                  </c:pt>
                  <c:pt idx="1">
                    <c:v>기준선(다수결)</c:v>
                  </c:pt>
                  <c:pt idx="2">
                    <c:v>AUC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0.567</c:v>
                </c:pt>
                <c:pt idx="1">
                  <c:v>0.569</c:v>
                </c:pt>
                <c:pt idx="2">
                  <c:v>0.5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E2A3A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A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.45"/>
        </c:scaling>
        <c:delete val="0"/>
        <c:axPos val="l"/>
        <c:majorGridlines>
          <c:spPr>
            <a:ln w="6350" cap="flat">
              <a:solidFill>
                <a:srgbClr val="EAEF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22335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0B6E72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D8EE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AI·SW 러닝메이트 멘토링 · 연구 발표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금리와 주가, 그리고 머신러닝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D3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중앙은행의 금리 정책 기대가 주가에 미치는 영향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8EE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“시장이 왜 이토록 예측하기 어려운지를 데이터로 증명하는 연구”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5212080"/>
            <a:ext cx="4206240" cy="0"/>
          </a:xfrm>
          <a:prstGeom prst="line">
            <a:avLst/>
          </a:prstGeom>
          <a:noFill/>
          <a:ln w="25400">
            <a:solidFill>
              <a:srgbClr val="0E83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394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EBA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영남대학교 SW중심대학사업단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EBA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AI·SW 러닝메이트 멘토링 프로그램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49440" y="59893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A0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github.com/BioCode67/fed-rate-stock-prediction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93776" cy="49377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42062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배경과 목적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9875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돈을 버는 예측기가 아니라, 예측이 어려운 이유를 밝히는 연구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212080" cy="2148840"/>
          </a:xfrm>
          <a:prstGeom prst="roundRect">
            <a:avLst>
              <a:gd name="adj" fmla="val 3830"/>
            </a:avLst>
          </a:prstGeom>
          <a:solidFill>
            <a:srgbClr val="D8EEEC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 전환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목표 : “주가 예측으로 돈을 벌자”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목표 : 헤지펀드와 같은 도구를 쓰되,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‘시장은 왜 예측하기 어려운가’를 데이터로 증명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508760"/>
            <a:ext cx="5605272" cy="1051560"/>
          </a:xfrm>
          <a:prstGeom prst="roundRect">
            <a:avLst>
              <a:gd name="adj" fmla="val 7826"/>
            </a:avLst>
          </a:prstGeom>
          <a:solidFill>
            <a:srgbClr val="F4F7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801368"/>
            <a:ext cx="457200" cy="45720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03720" y="16550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낮아도 정직하게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03720" y="202082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낮은 정확도는 실패가 아니라 정직한 결과다.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2715768"/>
            <a:ext cx="5605272" cy="1051560"/>
          </a:xfrm>
          <a:prstGeom prst="roundRect">
            <a:avLst>
              <a:gd name="adj" fmla="val 7826"/>
            </a:avLst>
          </a:prstGeom>
          <a:solidFill>
            <a:srgbClr val="F4F7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3008376"/>
            <a:ext cx="457200" cy="45720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03720" y="28620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너무 높으면 의심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03720" y="32278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정확도가 90%면 데이터 누수(반칙)를 의심한다.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0" y="3922776"/>
            <a:ext cx="5605272" cy="1051560"/>
          </a:xfrm>
          <a:prstGeom prst="roundRect">
            <a:avLst>
              <a:gd name="adj" fmla="val 7826"/>
            </a:avLst>
          </a:prstGeom>
          <a:solidFill>
            <a:srgbClr val="F4F7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4215384"/>
            <a:ext cx="457200" cy="45720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0372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‘어렵다’도 발견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03720" y="4434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예측이 어렵다는 결론은 효율적 시장 가설과 일치한다.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: 목표는 ‘돈’이 아니라 ‘시장은 예측하기 어렵다’는 사실의 증명이다.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93776" cy="49377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42062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검증할 가설 (결론이 아니라 검증 대상)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9875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지지하든 반박하든 그대로 보고한다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971032"/>
                <a:gridCol w="44805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가설이 ‘틀렸다’고 볼 신호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6E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계열 간 성능·속도·해석의 트레이드오프가 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모델이 세 축 모두 우월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6E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금리 변수를 넣어도 정확도가 크게 오르지 않는다 (효율적 시장)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금리로 정확도가 유의하게 상승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6E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금리 ‘수준’의 중요도는 시기(time) 프록시 효과다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시기를 통제해도 중요도 유지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6E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거래비용을 물면 전략이 매수 후 보유를 못 이긴다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 후에도 샤프가 B&amp;H보다 유의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6E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금리 발표일 전후 변동성이 평소보다 크다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발표일과 평소의 차이가 없음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6E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비둘기 성명 후 수익률이 매파 성명 후보다 높다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그룹의 평균 차이가 유의하지 않음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6E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종목 순위 예측이 지수 방향 예측보다 유용하다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순위 포트폴리오가 코스피를 못 이김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172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H2는 지지되면 ‘효율적 시장’의 증거, 반박되면 ‘금리에 예측 정보가 남아 있다’는 더 흥미로운 발견 — 어느 쪽도 의미 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93776" cy="49377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42062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데이터와 특징(feature)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9875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 수준이 아니라 비율·변화량으로 — 정상성 확보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5727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9019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S&amp;P500 (^GSPC)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3408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yfinance · 2010년~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79392" y="146304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07992" y="15727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금리 기대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07992" y="19019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미국 2년물 (DGS2)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07992" y="23408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FRED · 정책 기대에 민감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10144" y="146304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38744" y="15727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38744" y="19019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3,800 거래일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38744" y="23408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거래일 사용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사용하는 특징 (모두 정상성 있는 값)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6675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743200"/>
                <a:gridCol w="29260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6E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return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일간 등락률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6E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px_vs_ma5 / px_vs_ma20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주가 ÷ 이동평균 − 1 (이격도)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6E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ma5_vs_ma20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단기·중기 평균의 비율 (모멘텀)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6E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rate_change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하루 금리 변화 (수준이 아니라 변화)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6E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rate_change_20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20일간 금리 변화 (중기 기대)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7498080" y="3429000"/>
            <a:ext cx="4142232" cy="2651760"/>
          </a:xfrm>
          <a:prstGeom prst="roundRect">
            <a:avLst>
              <a:gd name="adj" fmla="val 3103"/>
            </a:avLst>
          </a:prstGeom>
          <a:solidFill>
            <a:srgbClr val="F6ECDD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726680" y="3584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비율·차분인가?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726680" y="3950208"/>
            <a:ext cx="3703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주가는 2,000 → 5,000, 금리는 0% → 5%로 범위가 크게 변한다.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 수준을 그대로 쓰면, 시험 구간이 학습 때 본 적 없는 범위가 되어 모델이 외삽에 실패한다.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비율·변화량으로 바꿔 값의 성질을 시기와 무관하게 만든다(정상성).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93776" cy="49377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42062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파이프라인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9875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데이터에서 해석까지 — 데이터 누수를 막는 순서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627632" cy="1554480"/>
          </a:xfrm>
          <a:prstGeom prst="roundRect">
            <a:avLst>
              <a:gd name="adj" fmla="val 5294"/>
            </a:avLst>
          </a:prstGeom>
          <a:solidFill>
            <a:srgbClr val="F4F7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2487168"/>
            <a:ext cx="438912" cy="438912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487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" y="2999232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94360" y="3346704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FRED · yfinance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57984" y="283464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441448" y="2286000"/>
            <a:ext cx="1627632" cy="1554480"/>
          </a:xfrm>
          <a:prstGeom prst="roundRect">
            <a:avLst>
              <a:gd name="adj" fmla="val 5294"/>
            </a:avLst>
          </a:prstGeom>
          <a:solidFill>
            <a:srgbClr val="F4F7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35808" y="2487168"/>
            <a:ext cx="438912" cy="438912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4" name="Text 12"/>
          <p:cNvSpPr/>
          <p:nvPr/>
        </p:nvSpPr>
        <p:spPr>
          <a:xfrm>
            <a:off x="3035808" y="2487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487168" y="2999232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 생성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487168" y="3346704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비율·차분(정상성)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050792" y="283464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334256" y="2286000"/>
            <a:ext cx="1627632" cy="1554480"/>
          </a:xfrm>
          <a:prstGeom prst="roundRect">
            <a:avLst>
              <a:gd name="adj" fmla="val 5294"/>
            </a:avLst>
          </a:prstGeom>
          <a:solidFill>
            <a:srgbClr val="F4F7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28616" y="2487168"/>
            <a:ext cx="438912" cy="438912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0" name="Text 18"/>
          <p:cNvSpPr/>
          <p:nvPr/>
        </p:nvSpPr>
        <p:spPr>
          <a:xfrm>
            <a:off x="4928616" y="2487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379976" y="2999232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시간순 분할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379976" y="3346704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학습:시험 = 80:20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43600" y="283464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227064" y="2286000"/>
            <a:ext cx="1627632" cy="1554480"/>
          </a:xfrm>
          <a:prstGeom prst="roundRect">
            <a:avLst>
              <a:gd name="adj" fmla="val 5294"/>
            </a:avLst>
          </a:prstGeom>
          <a:solidFill>
            <a:srgbClr val="F4F7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21424" y="2487168"/>
            <a:ext cx="438912" cy="438912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6" name="Text 24"/>
          <p:cNvSpPr/>
          <p:nvPr/>
        </p:nvSpPr>
        <p:spPr>
          <a:xfrm>
            <a:off x="6821424" y="2487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272784" y="2999232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학습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272784" y="3346704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모델 비교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836408" y="283464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8119872" y="2286000"/>
            <a:ext cx="1627632" cy="1554480"/>
          </a:xfrm>
          <a:prstGeom prst="roundRect">
            <a:avLst>
              <a:gd name="adj" fmla="val 5294"/>
            </a:avLst>
          </a:prstGeom>
          <a:solidFill>
            <a:srgbClr val="F4F7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714232" y="2487168"/>
            <a:ext cx="438912" cy="438912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2" name="Text 30"/>
          <p:cNvSpPr/>
          <p:nvPr/>
        </p:nvSpPr>
        <p:spPr>
          <a:xfrm>
            <a:off x="8714232" y="2487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165592" y="2999232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165592" y="3346704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AUC·기준선·검정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729216" y="283464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10012680" y="2286000"/>
            <a:ext cx="1627632" cy="1554480"/>
          </a:xfrm>
          <a:prstGeom prst="roundRect">
            <a:avLst>
              <a:gd name="adj" fmla="val 5294"/>
            </a:avLst>
          </a:prstGeom>
          <a:solidFill>
            <a:srgbClr val="D8EEEC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607040" y="2487168"/>
            <a:ext cx="438912" cy="438912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8" name="Text 36"/>
          <p:cNvSpPr/>
          <p:nvPr/>
        </p:nvSpPr>
        <p:spPr>
          <a:xfrm>
            <a:off x="10607040" y="2487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10058400" y="2999232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0058400" y="3346704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검증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8640" y="429768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F7FAFC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7724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누수(반칙) 방지 3원칙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77240" y="4828032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시간을 절대 섞지 않는다(무작위 분할 금지).  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스케일러는 학습 구간에만 fit.  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목표는 미래, 특징은 오늘까지 정보만.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93776" cy="49377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42062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연구의 5단계 구성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9875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1단계만 제대로 끝내도 완결된 발표가 된다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114800"/>
                <a:gridCol w="4690872"/>
                <a:gridCol w="1371600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질문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6E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1-a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phase1a_model_comparison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모델이, 왜 더 잘 맞히나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6E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1-b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phase1b_backtest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정확도가 실제 수익으로 이어지나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6E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1-c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phase1c_garch_volatility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금리 발표가 시장 변동성을 키우나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6E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phase2_event_study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성명서의 논조가 주가를 움직이나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6E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phase3_cross_section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종목 순위 예측이 지수를 이기나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25780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D8EEEC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525780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원칙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468880" y="5257800"/>
            <a:ext cx="8778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다 만들지 않고, 1-a부터 하나씩 실제 데이터로 검증하며 진행한다. 2·3단계는 여유가 있을 때 붙인다.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93776" cy="49377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42062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1-a. 네 가지 모델 비교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9875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계열의 대표 모델로 방법론 발전을 비교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743200"/>
                <a:gridCol w="2130552"/>
                <a:gridCol w="41148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라이브러리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ARIMA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전통 통계 시계열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statsmodels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수익률 흐름만 보는 단변량 모델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Random Forest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머신러닝 · 배깅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scikit-learn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트리의 다수결로 안정적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XGBoost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머신러닝 · 부스팅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xgboost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약점을 이어 보완, 정형 데이터에 강함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LSTM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딥러닝 · 순환신경망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C6B7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tensorflow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과거 시퀀스를 기억해 예측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251960"/>
            <a:ext cx="3520440" cy="1463040"/>
          </a:xfrm>
          <a:prstGeom prst="roundRect">
            <a:avLst>
              <a:gd name="adj" fmla="val 5625"/>
            </a:avLst>
          </a:prstGeom>
          <a:solidFill>
            <a:srgbClr val="D8EEEC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481888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모델의 성능·학습시간 비교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79392" y="4251960"/>
            <a:ext cx="3520440" cy="1463040"/>
          </a:xfrm>
          <a:prstGeom prst="roundRect">
            <a:avLst>
              <a:gd name="adj" fmla="val 5625"/>
            </a:avLst>
          </a:prstGeom>
          <a:solidFill>
            <a:srgbClr val="F6ECDD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07992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8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B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507992" y="481888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금리 변수 유무 비교 (연구의 핵심)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010144" y="4251960"/>
            <a:ext cx="3520440" cy="1463040"/>
          </a:xfrm>
          <a:prstGeom prst="roundRect">
            <a:avLst>
              <a:gd name="adj" fmla="val 5625"/>
            </a:avLst>
          </a:prstGeom>
          <a:solidFill>
            <a:srgbClr val="D8EEEC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238744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C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238744" y="481888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랜덤포레스트 변수 중요도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지표 확장 : 정확도 · 정밀도 · 재현율 · F1 · AUC · 혼동행렬 · 기준선 · MCC — 예측 시계(1/5/20/60일)별로 비교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93776" cy="49377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42062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1-a. 정확도의 함정 — 실제로 겪은 일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9875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정확도만 보면 무능한 모델도 ‘유의미’해 보인다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데이터 실행에서 관측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828800"/>
          <a:ext cx="52120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75488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RandomForest가 시험 구간의 97%를 ‘상승’으로 찍었다 → AUC 0.500(판별력 없음). 정확도 0.567은 실력이 아니라 다수결 흉내.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783080"/>
          <a:ext cx="56052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011680"/>
                <a:gridCol w="18562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보나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주의점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6E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AUC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오름/내림 구별력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6B7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0.5면 실력 없음 (주 지표)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6E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다수결로 찍은 점수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6B7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점수를 넘어야 의미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6E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상승예측비율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‘상승’ 답의 비율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6B7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0.9↑면 다수결 흉내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6E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MCC·균형정확도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불균형에 강한 점수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C6B7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· 0.5면 무작위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035040" y="4370832"/>
            <a:ext cx="5605272" cy="1371600"/>
          </a:xfrm>
          <a:prstGeom prst="roundRect">
            <a:avLst>
              <a:gd name="adj" fmla="val 6000"/>
            </a:avLst>
          </a:prstGeom>
          <a:solidFill>
            <a:srgbClr val="F6ECDD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263640" y="4480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검정 기준을 바꾸다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263640" y="484632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귀무가설을 ‘동전 던지기(0.5)’가 아니라 ‘기준선’으로.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하면 다수결만 흉내낸 모델은 ‘유의하지 않음’으로 정직하게 걸러진다.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93776" cy="49377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42062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1-b. 실무형 검증 — 백테스트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9875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정확도가 50%를 넘어도 실제로는 돈을 못 벌 수 있다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워크포워드 검증 (확장 윈도우)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291840" cy="457200"/>
          </a:xfrm>
          <a:prstGeom prst="rect">
            <a:avLst/>
          </a:prstGeom>
          <a:solidFill>
            <a:srgbClr val="0E83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20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학습(누적)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86200" y="1920240"/>
            <a:ext cx="914400" cy="457200"/>
          </a:xfrm>
          <a:prstGeom prst="rect">
            <a:avLst/>
          </a:prstGeom>
          <a:solidFill>
            <a:srgbClr val="C982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50일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523744"/>
            <a:ext cx="4572000" cy="457200"/>
          </a:xfrm>
          <a:prstGeom prst="rect">
            <a:avLst/>
          </a:prstGeom>
          <a:solidFill>
            <a:srgbClr val="0E83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2374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학습(누적)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66360" y="2523744"/>
            <a:ext cx="914400" cy="457200"/>
          </a:xfrm>
          <a:prstGeom prst="rect">
            <a:avLst/>
          </a:prstGeom>
          <a:solidFill>
            <a:srgbClr val="C982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25237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50일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3127248"/>
            <a:ext cx="5852160" cy="457200"/>
          </a:xfrm>
          <a:prstGeom prst="rect">
            <a:avLst/>
          </a:prstGeom>
          <a:solidFill>
            <a:srgbClr val="0E83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2724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학습(누적)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46520" y="3127248"/>
            <a:ext cx="914400" cy="457200"/>
          </a:xfrm>
          <a:prstGeom prst="rect">
            <a:avLst/>
          </a:prstGeom>
          <a:solidFill>
            <a:srgbClr val="C982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31272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50일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3840480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50일 실제값을 학습셋에 더해 재학습 — 단순 분할보다 현실적이고 결과가 더 나쁘다.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52360" y="1508760"/>
            <a:ext cx="4187952" cy="713232"/>
          </a:xfrm>
          <a:prstGeom prst="roundRect">
            <a:avLst>
              <a:gd name="adj" fmla="val 11538"/>
            </a:avLst>
          </a:prstGeom>
          <a:solidFill>
            <a:srgbClr val="F4F7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635240" y="15636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거래비용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635240" y="18562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포지션 변경마다 편도 0.05% + 슬리피지 차감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52360" y="2350008"/>
            <a:ext cx="4187952" cy="713232"/>
          </a:xfrm>
          <a:prstGeom prst="roundRect">
            <a:avLst>
              <a:gd name="adj" fmla="val 11538"/>
            </a:avLst>
          </a:prstGeom>
          <a:solidFill>
            <a:srgbClr val="F4F7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635240" y="24048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벤치마크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635240" y="26974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매수 후 보유(Buy &amp; Hold)와 비교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52360" y="3191256"/>
            <a:ext cx="4187952" cy="713232"/>
          </a:xfrm>
          <a:prstGeom prst="roundRect">
            <a:avLst>
              <a:gd name="adj" fmla="val 11538"/>
            </a:avLst>
          </a:prstGeom>
          <a:solidFill>
            <a:srgbClr val="F4F7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635240" y="3246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지표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635240" y="35387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누적수익 · 샤프지수 · 최대낙폭 · 승률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572000"/>
            <a:ext cx="11091672" cy="1280160"/>
          </a:xfrm>
          <a:prstGeom prst="roundRect">
            <a:avLst>
              <a:gd name="adj" fmla="val 6429"/>
            </a:avLst>
          </a:prstGeom>
          <a:solidFill>
            <a:srgbClr val="16233B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7240" y="4709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EE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77240" y="50749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거래비용을 빼고 나면, 시장을 맞히려는 전략이 ‘그냥 사서 들고 있기’에 지는 경우가 많다. (가설 H4)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93776" cy="49377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42062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1-c. GARCH 변동성 분석 (별도 파트)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9875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방향이 아니라 ‘얼마나 출렁이나’를 본다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D8EEEC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변동성은 뭉쳐서 온다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029968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충격이 온 다음 날은 변동성이 크고, 잠잠하면 계속 잠잠하다. GARCH(1,1)는 이 ‘변동성 군집’을 모형화한다.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508760"/>
            <a:ext cx="5513832" cy="1920240"/>
          </a:xfrm>
          <a:prstGeom prst="roundRect">
            <a:avLst>
              <a:gd name="adj" fmla="val 4286"/>
            </a:avLst>
          </a:prstGeom>
          <a:solidFill>
            <a:srgbClr val="F4F7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5508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확인하나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55080" y="2029968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FOMC 발표일 전후 변동성 vs 평소 (t검정)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금리가 크게 움직인 날 vs 잔잔한 날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예측은 정확도가 아니라 MSE · QLIKE로 평가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91672" cy="1143000"/>
          </a:xfrm>
          <a:prstGeom prst="roundRect">
            <a:avLst>
              <a:gd name="adj" fmla="val 7200"/>
            </a:avLst>
          </a:prstGeom>
          <a:solidFill>
            <a:srgbClr val="F6ECDD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7673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H5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114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금리 발표일 전후 시장 변동성이 평소보다 크다 — 차이가 유의하지 않으면 그대로 ‘차이 없음’으로 보고한다.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0749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: GARCH는 방향 예측 모델이 아니므로 1-a의 정확도 표에 넣지 않는다. ‘주가 변동’을 변동성으로 해석한 독립 파트.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93776" cy="49377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42062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연준 성명서 이벤트 스터디 (NLP)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9875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표본이 적을 때(연 8회)의 정석적 방법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200400" cy="1554480"/>
          </a:xfrm>
          <a:prstGeom prst="roundRect">
            <a:avLst>
              <a:gd name="adj" fmla="val 5294"/>
            </a:avLst>
          </a:prstGeom>
          <a:solidFill>
            <a:srgbClr val="F4F7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0299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연준 성명서 원문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54203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federalreserve.gov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원문만 사용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67328" y="2377440"/>
            <a:ext cx="74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26280" y="1828800"/>
            <a:ext cx="3200400" cy="1554480"/>
          </a:xfrm>
          <a:prstGeom prst="roundRect">
            <a:avLst>
              <a:gd name="adj" fmla="val 5294"/>
            </a:avLst>
          </a:prstGeom>
          <a:solidFill>
            <a:srgbClr val="D8EEEC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20299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FOMC-RoBERTa 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254203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문장별 매파·비둘기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 → 순매파도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44968" y="2377440"/>
            <a:ext cx="74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503920" y="1828800"/>
            <a:ext cx="3200400" cy="1554480"/>
          </a:xfrm>
          <a:prstGeom prst="roundRect">
            <a:avLst>
              <a:gd name="adj" fmla="val 5294"/>
            </a:avLst>
          </a:prstGeom>
          <a:solidFill>
            <a:srgbClr val="F4F7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41080" y="20299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반응 비교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41080" y="254203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당일·익일 수익률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비교 (t검정)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5486400" cy="1920240"/>
          </a:xfrm>
          <a:prstGeom prst="roundRect">
            <a:avLst>
              <a:gd name="adj" fmla="val 4286"/>
            </a:avLst>
          </a:prstGeom>
          <a:solidFill>
            <a:srgbClr val="F4F7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387705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머신러닝이 아니라 이벤트 스터디?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7240" y="4242816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FOMC는 연 8회뿐 — 10년을 모아도 약 80회. 학습에는 부족하다. 표본이 적을 때는 사건 전후를 비교하는 이벤트 스터디가 정석이다.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3749040"/>
            <a:ext cx="5468112" cy="1920240"/>
          </a:xfrm>
          <a:prstGeom prst="roundRect">
            <a:avLst>
              <a:gd name="adj" fmla="val 4286"/>
            </a:avLst>
          </a:prstGeom>
          <a:solidFill>
            <a:srgbClr val="F6ECDD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0" y="387705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8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기준 · 가설 H6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0" y="4242816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Bernanke &amp; Kuttner(2005): 예상치 못한 25bp 인하 → 주가지수 약 1% 상승.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금리 수준이 아니라 ‘서프라이즈’. 비둘기 성명 후 수익률이 더 높은지 검정한다.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93776" cy="49377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42062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개별 종목 횡단면 순위 예측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9875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지수 방향이 아니라 종목 간 상대 순위를 맞힌다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965960" cy="123444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828800"/>
            <a:ext cx="18196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코스피 종목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487168" y="22174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07208" y="1828800"/>
            <a:ext cx="1965960" cy="123444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80360" y="1828800"/>
            <a:ext cx="18196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 계산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45736" y="22174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065776" y="1828800"/>
            <a:ext cx="1965960" cy="123444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38928" y="1828800"/>
            <a:ext cx="18196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달 순위 예측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04304" y="22174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324344" y="1828800"/>
            <a:ext cx="1965960" cy="123444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97496" y="1828800"/>
            <a:ext cx="18196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매수·하위 제외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262872" y="22174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582912" y="1828800"/>
            <a:ext cx="1965960" cy="1234440"/>
          </a:xfrm>
          <a:prstGeom prst="roundRect">
            <a:avLst>
              <a:gd name="adj" fmla="val 6667"/>
            </a:avLst>
          </a:prstGeom>
          <a:solidFill>
            <a:srgbClr val="D8EEEC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56064" y="1828800"/>
            <a:ext cx="18196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코스피와 비교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3291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 : 모멘텀(1·6·12개월) · 변동성 · 거래량 변화 — 모두 정상성 있는 값 / 월별 리밸런싱, 거래비용 반영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5486400" cy="1828800"/>
          </a:xfrm>
          <a:prstGeom prst="roundRect">
            <a:avLst>
              <a:gd name="adj" fmla="val 4500"/>
            </a:avLst>
          </a:prstGeom>
          <a:solidFill>
            <a:srgbClr val="F6ECDD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4023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2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 밝힐 한계 : 생존 편향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407408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상장 종목만 쓰면 상장폐지된 회사가 빠져 성과가 실제보다 좋게 나온다. 이 한계를 발표에 반드시 명시한다.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72200" y="3886200"/>
            <a:ext cx="5468112" cy="1828800"/>
          </a:xfrm>
          <a:prstGeom prst="roundRect">
            <a:avLst>
              <a:gd name="adj" fmla="val 4500"/>
            </a:avLst>
          </a:prstGeom>
          <a:solidFill>
            <a:srgbClr val="D8EEEC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H7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4407408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 기반 포트폴리오가 코스피(벤치마크)를 이기는가? 이기지 못하면 그대로 보고한다. 이것이 Gu·Kelly·Xiu(2020)가 한 작업의 축소 재현이다.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93776" cy="49377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42062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 원칙과 신뢰성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9875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좋아 보이게 만들지 않는다 — 정직함이 목적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084832" cy="1920240"/>
          </a:xfrm>
          <a:prstGeom prst="roundRect">
            <a:avLst>
              <a:gd name="adj" fmla="val 4286"/>
            </a:avLst>
          </a:prstGeom>
          <a:solidFill>
            <a:srgbClr val="F4F7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16736" y="1783080"/>
            <a:ext cx="548640" cy="54864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8" name="Text 6"/>
          <p:cNvSpPr/>
          <p:nvPr/>
        </p:nvSpPr>
        <p:spPr>
          <a:xfrm>
            <a:off x="1316736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852928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비율·차분으로 변환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70632" y="1554480"/>
            <a:ext cx="2084832" cy="1920240"/>
          </a:xfrm>
          <a:prstGeom prst="roundRect">
            <a:avLst>
              <a:gd name="adj" fmla="val 4286"/>
            </a:avLst>
          </a:prstGeom>
          <a:solidFill>
            <a:srgbClr val="F4F7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38728" y="1783080"/>
            <a:ext cx="548640" cy="54864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3" name="Text 11"/>
          <p:cNvSpPr/>
          <p:nvPr/>
        </p:nvSpPr>
        <p:spPr>
          <a:xfrm>
            <a:off x="353872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862072" y="246888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 보고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62072" y="2852928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다수결 점수와 항상 비교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92624" y="1554480"/>
            <a:ext cx="2084832" cy="1920240"/>
          </a:xfrm>
          <a:prstGeom prst="roundRect">
            <a:avLst>
              <a:gd name="adj" fmla="val 4286"/>
            </a:avLst>
          </a:prstGeom>
          <a:solidFill>
            <a:srgbClr val="F4F7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60720" y="1783080"/>
            <a:ext cx="548640" cy="54864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84064" y="246888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시간순 분할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84064" y="2852928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미래를 과거로 흘리지 않음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14616" y="1554480"/>
            <a:ext cx="2084832" cy="1920240"/>
          </a:xfrm>
          <a:prstGeom prst="roundRect">
            <a:avLst>
              <a:gd name="adj" fmla="val 4286"/>
            </a:avLst>
          </a:prstGeom>
          <a:solidFill>
            <a:srgbClr val="F4F7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982712" y="1783080"/>
            <a:ext cx="548640" cy="54864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3" name="Text 21"/>
          <p:cNvSpPr/>
          <p:nvPr/>
        </p:nvSpPr>
        <p:spPr>
          <a:xfrm>
            <a:off x="7982712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306056" y="246888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누수 방지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06056" y="2852928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스케일러는 학습 구간만 fit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436608" y="1554480"/>
            <a:ext cx="2084832" cy="1920240"/>
          </a:xfrm>
          <a:prstGeom prst="roundRect">
            <a:avLst>
              <a:gd name="adj" fmla="val 4286"/>
            </a:avLst>
          </a:prstGeom>
          <a:solidFill>
            <a:srgbClr val="F4F7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204704" y="1783080"/>
            <a:ext cx="548640" cy="54864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8" name="Text 26"/>
          <p:cNvSpPr/>
          <p:nvPr/>
        </p:nvSpPr>
        <p:spPr>
          <a:xfrm>
            <a:off x="10204704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528048" y="246888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재현성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528048" y="2852928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난수 시드 고정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3794760"/>
            <a:ext cx="11091672" cy="192024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77240" y="39502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다중검정 주의 — 많이 시도할수록 우연히 좋아 보인다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77240" y="4334256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4 × 예측 시계 4 = 16번 시도하면, 그중 하나가 우연히 p&lt;0.05를 받을 확률은 약 56%.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한 설정에서만 유의한 결과는 신뢰하지 않는다. 시도 횟수를 기록하고, 여러 시계에서 일관된 신호만 인정한다.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López de Prado: 백테스트 횟수만큼 샤프지수를 할인(deflate)하라.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93776" cy="49377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42062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일정과 기대효과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97280" y="1965960"/>
            <a:ext cx="9966960" cy="0"/>
          </a:xfrm>
          <a:prstGeom prst="line">
            <a:avLst/>
          </a:prstGeom>
          <a:noFill/>
          <a:ln w="25400">
            <a:solidFill>
              <a:srgbClr val="D9E2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1847088"/>
            <a:ext cx="237744" cy="237744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417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구현·실습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847088"/>
            <a:ext cx="237744" cy="237744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0" name="Text 8"/>
          <p:cNvSpPr/>
          <p:nvPr/>
        </p:nvSpPr>
        <p:spPr>
          <a:xfrm>
            <a:off x="3593592" y="1417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8–9월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19272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실험 완료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16952" y="1847088"/>
            <a:ext cx="237744" cy="237744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3" name="Text 11"/>
          <p:cNvSpPr/>
          <p:nvPr/>
        </p:nvSpPr>
        <p:spPr>
          <a:xfrm>
            <a:off x="6912864" y="1417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38544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정리·보고서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36224" y="1847088"/>
            <a:ext cx="237744" cy="237744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6" name="Text 14"/>
          <p:cNvSpPr/>
          <p:nvPr/>
        </p:nvSpPr>
        <p:spPr>
          <a:xfrm>
            <a:off x="10232136" y="1417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11월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957816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발표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971800"/>
            <a:ext cx="5440680" cy="2788920"/>
          </a:xfrm>
          <a:prstGeom prst="roundRect">
            <a:avLst>
              <a:gd name="adj" fmla="val 2951"/>
            </a:avLst>
          </a:prstGeom>
          <a:solidFill>
            <a:srgbClr val="D8EEEC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352044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효율적 시장 가설을 데이터로 체험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‘정직한 실패’를 다루는 연구 태도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실무에서 쓰는 ML·백테스트 도구 경험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통계적 함정(불균형·다중검정) 이해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0" y="2971800"/>
            <a:ext cx="5513832" cy="2788920"/>
          </a:xfrm>
          <a:prstGeom prst="roundRect">
            <a:avLst>
              <a:gd name="adj" fmla="val 2951"/>
            </a:avLst>
          </a:prstGeom>
          <a:solidFill>
            <a:srgbClr val="F4F7FA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5508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참고문헌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55080" y="352044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Bernanke &amp; Kuttner (2005) — 예상 밖 금리 인하와 주가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Gu, Kelly &amp; Xiu (2020) — ML 자산가격 예측 비교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Welch &amp; Goyal (2008) — 예측 가능성에 대한 회의론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Shah, Paturi &amp; Chava (2023) — Trillion Dollar Words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Bailey &amp; López de Prado (2014) — Deflated Sharpe Ratio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023360"/>
            <a:ext cx="4023360" cy="4023360"/>
          </a:xfrm>
          <a:prstGeom prst="ellipse">
            <a:avLst/>
          </a:prstGeom>
          <a:solidFill>
            <a:srgbClr val="223350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1371600"/>
            <a:ext cx="3474720" cy="3474720"/>
          </a:xfrm>
          <a:prstGeom prst="ellipse">
            <a:avLst/>
          </a:prstGeom>
          <a:solidFill>
            <a:srgbClr val="0B6E72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D8EE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맺음말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낮더라도 정직한 결과가,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부풀린 높은 점수보다 값지다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3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‘예측이 어렵다’는 결론은 실패가 아니라 효율적 시장 가설과 일치하는 의미 있는 발견이다.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800600"/>
            <a:ext cx="4206240" cy="0"/>
          </a:xfrm>
          <a:prstGeom prst="line">
            <a:avLst/>
          </a:prstGeom>
          <a:noFill/>
          <a:ln w="25400">
            <a:solidFill>
              <a:srgbClr val="0E83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983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코드·문서·참고자료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5303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github.com/BioCode67/fed-rate-stock-prediction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40880" y="5943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8EE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금리와 주가, 그리고 머신러닝</dc:title>
  <dc:subject>PptxGenJS Presentation</dc:subject>
  <dc:creator>BioCode67</dc:creator>
  <cp:lastModifiedBy>BioCode67</cp:lastModifiedBy>
  <cp:revision>1</cp:revision>
  <dcterms:created xsi:type="dcterms:W3CDTF">2026-07-09T03:17:32Z</dcterms:created>
  <dcterms:modified xsi:type="dcterms:W3CDTF">2026-07-09T03:17:32Z</dcterms:modified>
</cp:coreProperties>
</file>